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A3C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B2A3C"/>
                </a:solidFill>
                <a:latin typeface="Calibri"/>
              </a:rPr>
              <a:t>Site risk score (0–100) — 4 of 10 demo sites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C837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C53-469D-9A4C-CE69324740D4}"/>
              </c:ext>
            </c:extLst>
          </c:dPt>
          <c:dPt>
            <c:idx val="1"/>
            <c:invertIfNegative val="0"/>
            <c:bubble3D val="0"/>
            <c:spPr>
              <a:solidFill>
                <a:srgbClr val="D26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C53-469D-9A4C-CE69324740D4}"/>
              </c:ext>
            </c:extLst>
          </c:dPt>
          <c:dPt>
            <c:idx val="2"/>
            <c:invertIfNegative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C53-469D-9A4C-CE69324740D4}"/>
              </c:ext>
            </c:extLst>
          </c:dPt>
          <c:dPt>
            <c:idx val="3"/>
            <c:invertIfNegative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C53-469D-9A4C-CE69324740D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0B2A3C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SITE-104</c:v>
                </c:pt>
                <c:pt idx="1">
                  <c:v>SITE-107</c:v>
                </c:pt>
                <c:pt idx="2">
                  <c:v>SITE-105</c:v>
                </c:pt>
                <c:pt idx="3">
                  <c:v>SITE-110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52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C53-469D-9A4C-CE69324740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2E6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2A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5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353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TrialGuard is a hackathon proof-of-concept that detects protocol deviations in clinical-trial visit records, scores site risk, raises early warnings and drafts rule-based CAPA reports. Replace [TEAM NAME] and [TEAM MEMBERS]. Everything shown uses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framing is qualitative — the repository contains no verified real-world statistics, so none are shown. The key idea: single deviations are hard to prioritise; repeated patterns and rising trends are what reveal a site-level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TrialGuard is one transparent pipeline: validated CSV input, five deviation rules, severity, a 0–100 site risk score, early warnings and rule-based CAPA recommendations, shown in a Streamlit + Plotly dashboard. Replace the dashed placeholder with a real screenshot of the running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box is a separate Python module. app.py only displays results; all rules live in src/core and thresholds in config.py. The dashboard passes the selected site's results to the CAPA generator, which returns a Markdown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 output on the synthetic demo data (10 sites, 120 patients, 42 deviations). SITE-104 and SITE-107 were deliberately planted problem sites; SITE-105 and SITE-110 have no deviations. Across all sites: 1 HIGH, 1 MEDIUM, 8 LOW. These results show the planted problems are found; they are not real-world accuracy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SITE-104's four early warnings come from the early-warning module. The CAPA items are abridged from the report the app generates for SITE-104, using fixed, editable lookup tables — no AI model writes them. They are prototype recommendations, not regulatory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with Python, pandas, Streamlit, Plotly, CSV/JSON data and pytest (334 automated tests). IBM Bob is not used in this implementation — stated plainly. Future scope items are ideas, not implemented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822960"/>
            <a:ext cx="5212080" cy="5212080"/>
          </a:xfrm>
          <a:prstGeom prst="ellipse">
            <a:avLst/>
          </a:prstGeom>
          <a:solidFill>
            <a:srgbClr val="0E7C86">
              <a:alpha val="1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600200"/>
            <a:ext cx="3657600" cy="3657600"/>
          </a:xfrm>
          <a:prstGeom prst="ellipse">
            <a:avLst/>
          </a:prstGeom>
          <a:solidFill>
            <a:srgbClr val="0E7C86">
              <a:alpha val="20000"/>
            </a:srgbClr>
          </a:solidFill>
          <a:ln w="12700">
            <a:solidFill>
              <a:srgbClr val="5FD3C6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3566160"/>
            <a:ext cx="1554480" cy="0"/>
          </a:xfrm>
          <a:prstGeom prst="line">
            <a:avLst/>
          </a:prstGeom>
          <a:noFill/>
          <a:ln w="44450">
            <a:solidFill>
              <a:srgbClr val="5FD3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138160" y="3063240"/>
            <a:ext cx="320040" cy="502920"/>
          </a:xfrm>
          <a:prstGeom prst="line">
            <a:avLst/>
          </a:prstGeom>
          <a:noFill/>
          <a:ln w="44450">
            <a:solidFill>
              <a:srgbClr val="5FD3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8200" y="3063240"/>
            <a:ext cx="320040" cy="1097280"/>
          </a:xfrm>
          <a:prstGeom prst="line">
            <a:avLst/>
          </a:prstGeom>
          <a:noFill/>
          <a:ln w="44450">
            <a:solidFill>
              <a:srgbClr val="5FD3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778240" y="2148840"/>
            <a:ext cx="411480" cy="2011680"/>
          </a:xfrm>
          <a:prstGeom prst="line">
            <a:avLst/>
          </a:prstGeom>
          <a:noFill/>
          <a:ln w="44450">
            <a:solidFill>
              <a:srgbClr val="5FD3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89720" y="2148840"/>
            <a:ext cx="411480" cy="2377440"/>
          </a:xfrm>
          <a:prstGeom prst="line">
            <a:avLst/>
          </a:prstGeom>
          <a:noFill/>
          <a:ln w="44450">
            <a:solidFill>
              <a:srgbClr val="5FD3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601200" y="3566160"/>
            <a:ext cx="320040" cy="960120"/>
          </a:xfrm>
          <a:prstGeom prst="line">
            <a:avLst/>
          </a:prstGeom>
          <a:noFill/>
          <a:ln w="44450">
            <a:solidFill>
              <a:srgbClr val="5FD3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3566160"/>
            <a:ext cx="1965960" cy="0"/>
          </a:xfrm>
          <a:prstGeom prst="line">
            <a:avLst/>
          </a:prstGeom>
          <a:noFill/>
          <a:ln w="44450">
            <a:solidFill>
              <a:srgbClr val="5FD3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0" y="2029968"/>
            <a:ext cx="237744" cy="23774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50749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C8373A"/>
          </a:solidFill>
          <a:ln>
            <a:solidFill>
              <a:srgbClr val="C837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507492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D2692B"/>
          </a:solidFill>
          <a:ln>
            <a:solidFill>
              <a:srgbClr val="D2692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424160" y="5074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solidFill>
              <a:srgbClr val="1E844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097280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1B4A61"/>
          </a:solidFill>
          <a:ln>
            <a:solidFill>
              <a:srgbClr val="1B4A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BOBATHON  ·  HACKATHON PROJECT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78308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</a:t>
            </a:r>
            <a:endParaRPr lang="en-US" sz="6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97180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5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Risk Monitor &amp;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5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Deviation Detector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800" b="1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Trial Guardians</a:t>
            </a:r>
          </a:p>
          <a:p>
            <a:pPr>
              <a:spcAft>
                <a:spcPts val="600"/>
              </a:spcAft>
            </a:pPr>
            <a:r>
              <a:rPr lang="en-US" sz="1800" b="1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Devarsh Patel , Yug Joshi , Tirtha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Parsana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jia Parikh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only — synthetic data. Not for clinical decision-making. Not FDA/EMA approved.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9344"/>
            <a:ext cx="457200" cy="457200"/>
          </a:xfrm>
          <a:prstGeom prst="ellipse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54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happen at trial sites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202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or late visits, wrong doses, prohibited medications.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42032"/>
            <a:ext cx="457200" cy="457200"/>
          </a:xfrm>
          <a:prstGeom prst="ellipse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4871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deviations are hard to prioritise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5292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arrive as a long list of separate errors.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1985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point to site-level problems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7856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issue across patients suggests a process gap.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07408"/>
            <a:ext cx="457200" cy="457200"/>
          </a:xfrm>
          <a:prstGeom prst="ellipse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35254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deviations are an early warning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7183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worsening trend can be caught before risk becomes severe.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0096"/>
            <a:ext cx="457200" cy="457200"/>
          </a:xfrm>
          <a:prstGeom prst="ellipse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28523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need a simple focus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65099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sites need attention first — and why?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60920" y="1572768"/>
            <a:ext cx="4279392" cy="822960"/>
          </a:xfrm>
          <a:prstGeom prst="roundRect">
            <a:avLst>
              <a:gd name="adj" fmla="val 15556"/>
            </a:avLst>
          </a:prstGeom>
          <a:solidFill>
            <a:srgbClr val="E6F3F4"/>
          </a:solidFill>
          <a:ln w="12700">
            <a:solidFill>
              <a:srgbClr val="E6F3F4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35240" y="1664208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deviations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2029968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late visit, one wrong dose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500616" y="2459736"/>
            <a:ext cx="0" cy="27432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60920" y="2798064"/>
            <a:ext cx="4279392" cy="822960"/>
          </a:xfrm>
          <a:prstGeom prst="roundRect">
            <a:avLst>
              <a:gd name="adj" fmla="val 15556"/>
            </a:avLst>
          </a:prstGeom>
          <a:solidFill>
            <a:srgbClr val="CFE8EA"/>
          </a:solidFill>
          <a:ln w="12700">
            <a:solidFill>
              <a:srgbClr val="CFE8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635240" y="2889504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patterns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3255264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issue across several patients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500616" y="3685032"/>
            <a:ext cx="0" cy="27432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60920" y="4023360"/>
            <a:ext cx="4279392" cy="822960"/>
          </a:xfrm>
          <a:prstGeom prst="roundRect">
            <a:avLst>
              <a:gd name="adj" fmla="val 15556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635240" y="4114800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risk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7635240" y="448056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needs attention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500616" y="4910328"/>
            <a:ext cx="0" cy="27432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360920" y="5248656"/>
            <a:ext cx="4279392" cy="822960"/>
          </a:xfrm>
          <a:prstGeom prst="roundRect">
            <a:avLst>
              <a:gd name="adj" fmla="val 15556"/>
            </a:avLst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635240" y="5340096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5705856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before it becomes severe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  ·  Hackathon proof-of-concept  ·  Synthetic data only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728655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TrialGuard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822960"/>
            <a:ext cx="3456432" cy="402336"/>
          </a:xfrm>
          <a:prstGeom prst="roundRect">
            <a:avLst>
              <a:gd name="adj" fmla="val 50000"/>
            </a:avLst>
          </a:prstGeom>
          <a:solidFill>
            <a:srgbClr val="E6F3F4"/>
          </a:solidFill>
          <a:ln>
            <a:solidFill>
              <a:srgbClr val="E6F3F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uses synthetic clinical-trial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3144" y="1572768"/>
            <a:ext cx="1389888" cy="1051560"/>
          </a:xfrm>
          <a:prstGeom prst="roundRect">
            <a:avLst>
              <a:gd name="adj" fmla="val 10435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36296" y="168249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Trial Data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36296" y="2231136"/>
            <a:ext cx="1243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or uploaded CSV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89608" y="2098548"/>
            <a:ext cx="18288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09064" y="1572768"/>
            <a:ext cx="138988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FE8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182216" y="168249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Detection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82216" y="2231136"/>
            <a:ext cx="1243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rule types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35528" y="2098548"/>
            <a:ext cx="18288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54984" y="1572768"/>
            <a:ext cx="138988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FE8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828136" y="168249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28136" y="2231136"/>
            <a:ext cx="1243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· Minor · Admin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81448" y="2098548"/>
            <a:ext cx="18288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00904" y="1572768"/>
            <a:ext cx="138988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FE8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474056" y="168249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74056" y="2231136"/>
            <a:ext cx="1243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per site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27368" y="2098548"/>
            <a:ext cx="18288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46824" y="1572768"/>
            <a:ext cx="138988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FE8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119976" y="168249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19976" y="2231136"/>
            <a:ext cx="1243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&amp; trends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73288" y="2098548"/>
            <a:ext cx="18288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692744" y="1572768"/>
            <a:ext cx="138988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FE8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765896" y="168249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765896" y="2231136"/>
            <a:ext cx="1243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actions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119208" y="2098548"/>
            <a:ext cx="18288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338664" y="1572768"/>
            <a:ext cx="1389888" cy="1051560"/>
          </a:xfrm>
          <a:prstGeom prst="roundRect">
            <a:avLst>
              <a:gd name="adj" fmla="val 10435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0411816" y="168249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411816" y="2231136"/>
            <a:ext cx="1243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0175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 combines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" y="35661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deviation detection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" y="41148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classification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663440"/>
            <a:ext cx="384048" cy="384048"/>
          </a:xfrm>
          <a:prstGeom prst="ellipse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115568" y="46634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risk scoring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115568" y="52120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detection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760720"/>
            <a:ext cx="384048" cy="384048"/>
          </a:xfrm>
          <a:prstGeom prst="ellipse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57607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CAPA recommendations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6355080" y="3017520"/>
            <a:ext cx="528523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6629400" y="3931920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6720840" y="4389120"/>
            <a:ext cx="4553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real screenshot of the running TrialGuard dashboard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 example, the Study overview tab) and delete this box.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  ·  Hackathon proof-of-concept  ·  Synthetic data only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728655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61F9B34-5563-1B18-E5E7-D401328E6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301752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TrialGuard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3728" y="1536192"/>
            <a:ext cx="1920240" cy="896112"/>
          </a:xfrm>
          <a:prstGeom prst="roundRect">
            <a:avLst>
              <a:gd name="adj" fmla="val 12245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8592" y="1591056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18592" y="213969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49728" y="1536192"/>
            <a:ext cx="1920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04592" y="1591056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04592" y="213969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35728" y="1536192"/>
            <a:ext cx="1920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190592" y="1591056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Loader &amp; Validation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90592" y="213969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utils/data_loader.py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21728" y="1536192"/>
            <a:ext cx="1920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76592" y="1591056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Detector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76592" y="213969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core/deviation_detector.py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707728" y="1536192"/>
            <a:ext cx="1920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62592" y="1591056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762592" y="213969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core/severity.py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29688" y="1984248"/>
            <a:ext cx="27432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15688" y="1984248"/>
            <a:ext cx="27432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01688" y="1984248"/>
            <a:ext cx="27432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87688" y="1984248"/>
            <a:ext cx="27432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667848" y="2478024"/>
            <a:ext cx="0" cy="402336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07728" y="2926080"/>
            <a:ext cx="1920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762592" y="2980944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762592" y="352958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core/risk_scoring.py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21728" y="2926080"/>
            <a:ext cx="1920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476592" y="2980944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Engine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76592" y="352958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core/early_warning.py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35728" y="2926080"/>
            <a:ext cx="1920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190592" y="2980944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Generator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190592" y="352958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core/capa_generator.py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49728" y="2926080"/>
            <a:ext cx="1920240" cy="896112"/>
          </a:xfrm>
          <a:prstGeom prst="roundRect">
            <a:avLst>
              <a:gd name="adj" fmla="val 12245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2904592" y="2980944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Markdown Report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2904592" y="352958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+ charts.py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 flipH="1">
            <a:off x="9387688" y="3374136"/>
            <a:ext cx="27432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>
            <a:off x="7101688" y="3374136"/>
            <a:ext cx="27432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>
            <a:off x="4815688" y="3374136"/>
            <a:ext cx="27432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63728" y="2926080"/>
            <a:ext cx="1920240" cy="896112"/>
          </a:xfrm>
          <a:prstGeom prst="roundRect">
            <a:avLst>
              <a:gd name="adj" fmla="val 12245"/>
            </a:avLst>
          </a:prstGeom>
          <a:solidFill>
            <a:srgbClr val="E6F3F4"/>
          </a:solidFill>
          <a:ln w="12700">
            <a:solidFill>
              <a:srgbClr val="E6F3F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5168" y="2980944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types detected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490576" y="4617720"/>
            <a:ext cx="2139696" cy="1481328"/>
          </a:xfrm>
          <a:prstGeom prst="roundRect">
            <a:avLst>
              <a:gd name="adj" fmla="val 6173"/>
            </a:avLst>
          </a:prstGeom>
          <a:solidFill>
            <a:srgbClr val="F7FAFB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00304" y="4727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visits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00304" y="509320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record, or a blank visit day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00304" y="5678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58288" y="4617720"/>
            <a:ext cx="2139696" cy="1481328"/>
          </a:xfrm>
          <a:prstGeom prst="roundRect">
            <a:avLst>
              <a:gd name="adj" fmla="val 6173"/>
            </a:avLst>
          </a:prstGeom>
          <a:solidFill>
            <a:srgbClr val="F7FAFB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868016" y="4727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Out-of-window visits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2868016" y="509320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day window; severity by days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2868016" y="5678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Minor → Major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026000" y="4617720"/>
            <a:ext cx="2139696" cy="1481328"/>
          </a:xfrm>
          <a:prstGeom prst="roundRect">
            <a:avLst>
              <a:gd name="adj" fmla="val 6173"/>
            </a:avLst>
          </a:prstGeom>
          <a:solidFill>
            <a:srgbClr val="F7FAFB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135728" y="4727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dose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135728" y="509320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differs from the 10 mg protocol dose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5135728" y="5678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293712" y="4617720"/>
            <a:ext cx="2139696" cy="1481328"/>
          </a:xfrm>
          <a:prstGeom prst="roundRect">
            <a:avLst>
              <a:gd name="adj" fmla="val 6173"/>
            </a:avLst>
          </a:prstGeom>
          <a:solidFill>
            <a:srgbClr val="F7FAFB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403440" y="4727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 medications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7403440" y="509320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DrugB or DrugC recorded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7403440" y="5678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561424" y="4617720"/>
            <a:ext cx="2139696" cy="1481328"/>
          </a:xfrm>
          <a:prstGeom prst="roundRect">
            <a:avLst>
              <a:gd name="adj" fmla="val 6173"/>
            </a:avLst>
          </a:prstGeom>
          <a:solidFill>
            <a:srgbClr val="F7FAFB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671152" y="4727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documentation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9671152" y="509320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dose or medication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9671152" y="5678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  ·  Hackathon proof-of-concept  ·  Synthetic data only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10728655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Deviations to Site Risk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822960"/>
            <a:ext cx="3227832" cy="402336"/>
          </a:xfrm>
          <a:prstGeom prst="roundRect">
            <a:avLst>
              <a:gd name="adj" fmla="val 50000"/>
            </a:avLst>
          </a:prstGeom>
          <a:solidFill>
            <a:srgbClr val="E6F3F4"/>
          </a:solidFill>
          <a:ln>
            <a:solidFill>
              <a:srgbClr val="E6F3F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 on synthetic demo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9893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685800" y="1600200"/>
          <a:ext cx="5715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766560" y="1481328"/>
            <a:ext cx="233172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967728" y="16276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SITE-104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74152" y="163677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C8373A"/>
          </a:solidFill>
          <a:ln>
            <a:solidFill>
              <a:srgbClr val="C837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967728" y="20116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8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r>
              <a:rPr lang="en-US" sz="16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100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967728" y="285292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deviations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308592" y="1481328"/>
            <a:ext cx="233172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9509760" y="16276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SITE-107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616184" y="163677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D2692B"/>
          </a:solidFill>
          <a:ln>
            <a:solidFill>
              <a:srgbClr val="D2692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09760" y="20116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2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r>
              <a:rPr lang="en-US" sz="16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100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9509760" y="285292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deviations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66560" y="3648456"/>
            <a:ext cx="233172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967728" y="37947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SITE-105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074152" y="3803904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solidFill>
              <a:srgbClr val="1E844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967728" y="417880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6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100</a:t>
            </a:r>
            <a:endParaRPr lang="en-US" sz="4400" dirty="0"/>
          </a:p>
        </p:txBody>
      </p:sp>
      <p:sp>
        <p:nvSpPr>
          <p:cNvPr id="21" name="Text 18"/>
          <p:cNvSpPr txBox="1"/>
          <p:nvPr/>
        </p:nvSpPr>
        <p:spPr>
          <a:xfrm>
            <a:off x="6967728" y="502005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deviations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308592" y="3648456"/>
            <a:ext cx="233172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9509760" y="37947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SITE-110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0616184" y="3803904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solidFill>
              <a:srgbClr val="1E844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509760" y="417880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6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100</a:t>
            </a:r>
            <a:endParaRPr lang="en-US" sz="4400" dirty="0"/>
          </a:p>
        </p:txBody>
      </p:sp>
      <p:sp>
        <p:nvSpPr>
          <p:cNvPr id="26" name="Text 23"/>
          <p:cNvSpPr txBox="1"/>
          <p:nvPr/>
        </p:nvSpPr>
        <p:spPr>
          <a:xfrm>
            <a:off x="9509760" y="502005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deviations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760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828800" y="576072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C8373A"/>
          </a:solidFill>
          <a:ln>
            <a:solidFill>
              <a:srgbClr val="C837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61–100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3840480" y="576072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D2692B"/>
          </a:solidFill>
          <a:ln>
            <a:solidFill>
              <a:srgbClr val="D2692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31–60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852160" y="576072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solidFill>
              <a:srgbClr val="1E844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0–30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576072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risk points per patient ÷ 25 × 100 (max 100)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  ·  Hackathon proof-of-concept  ·  Synthetic data only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728655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Detection to Action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SITE-104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682496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C8373A"/>
          </a:solidFill>
          <a:ln>
            <a:solidFill>
              <a:srgbClr val="C837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68/100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463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deviations  ·  11 of 12 patients affected  ·  CAPA items abridged from the generated report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41248" y="3410712"/>
            <a:ext cx="310896" cy="274320"/>
          </a:xfrm>
          <a:prstGeom prst="triangl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44728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33756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dosing errors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3995928"/>
            <a:ext cx="310896" cy="274320"/>
          </a:xfrm>
          <a:prstGeom prst="triangl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03250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2277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prohibited medications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41248" y="4581144"/>
            <a:ext cx="310896" cy="274320"/>
          </a:xfrm>
          <a:prstGeom prst="triangl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61772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50799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deviation trend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41248" y="5166360"/>
            <a:ext cx="310896" cy="274320"/>
          </a:xfrm>
          <a:prstGeom prst="triangle">
            <a:avLst/>
          </a:prstGeom>
          <a:solidFill>
            <a:srgbClr val="F2A81D"/>
          </a:solidFill>
          <a:ln w="12700">
            <a:solidFill>
              <a:srgbClr val="F2A81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520293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09320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high deviation rate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89120" y="2514600"/>
            <a:ext cx="354787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617720" y="2715768"/>
            <a:ext cx="384048" cy="384048"/>
          </a:xfrm>
          <a:prstGeom prst="ellipse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269748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291840"/>
            <a:ext cx="3090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recent dosing records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dose calculation procedures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medication reconciliation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relevant site staff if required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092440" y="2514600"/>
            <a:ext cx="354787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321040" y="2715768"/>
            <a:ext cx="384048" cy="384048"/>
          </a:xfrm>
          <a:prstGeom prst="ellipse">
            <a:avLst/>
          </a:prstGeom>
          <a:solidFill>
            <a:srgbClr val="0A5E66"/>
          </a:solidFill>
          <a:ln>
            <a:solidFill>
              <a:srgbClr val="0A5E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269748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3291840"/>
            <a:ext cx="3090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second-person dosing verification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dose validation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medication review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site-level deviation review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4389120" y="5029200"/>
            <a:ext cx="7251192" cy="6858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3440" y="50292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enhanced monitoring/review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897880"/>
            <a:ext cx="4663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2A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recommendations, not regulatory advice.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394960" y="589788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2A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only — synthetic data.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  ·  Hackathon proof-of-concept  ·  Synthetic data only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728655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Technology, Impact &amp; Future Scope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086600" cy="1143000"/>
          </a:xfrm>
          <a:prstGeom prst="roundRect">
            <a:avLst>
              <a:gd name="adj" fmla="val 9600"/>
            </a:avLst>
          </a:prstGeom>
          <a:solidFill>
            <a:srgbClr val="12384C"/>
          </a:solidFill>
          <a:ln w="12700">
            <a:solidFill>
              <a:srgbClr val="1238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1B4A61"/>
          </a:solidFill>
          <a:ln>
            <a:solidFill>
              <a:srgbClr val="1B4A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2996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1B4A61"/>
          </a:solidFill>
          <a:ln>
            <a:solidFill>
              <a:srgbClr val="1B4A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02996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B4A61"/>
          </a:solidFill>
          <a:ln>
            <a:solidFill>
              <a:srgbClr val="1B4A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029968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1B4A61"/>
          </a:solidFill>
          <a:ln>
            <a:solidFill>
              <a:srgbClr val="1B4A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029968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B4A61"/>
          </a:solidFill>
          <a:ln>
            <a:solidFill>
              <a:srgbClr val="1B4A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JSON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202996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B4A61"/>
          </a:solidFill>
          <a:ln>
            <a:solidFill>
              <a:srgbClr val="1B4A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334 tests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1481328"/>
            <a:ext cx="3779215" cy="1143000"/>
          </a:xfrm>
          <a:prstGeom prst="roundRect">
            <a:avLst>
              <a:gd name="adj" fmla="val 9600"/>
            </a:avLst>
          </a:prstGeom>
          <a:solidFill>
            <a:srgbClr val="12384C"/>
          </a:solidFill>
          <a:ln w="19050">
            <a:solidFill>
              <a:srgbClr val="F2A81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integration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011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in this implementation.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3566160" cy="3364992"/>
          </a:xfrm>
          <a:prstGeom prst="roundRect">
            <a:avLst>
              <a:gd name="adj" fmla="val 3261"/>
            </a:avLst>
          </a:prstGeom>
          <a:solidFill>
            <a:srgbClr val="12384C"/>
          </a:solidFill>
          <a:ln w="12700">
            <a:solidFill>
              <a:srgbClr val="1238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566160"/>
            <a:ext cx="310896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prioritise sites for monitoring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emerging trends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deviation patterns easier to understand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detected risk into actionable prototype recommendations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proof-of-concept on synthetic data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312768" y="2834640"/>
            <a:ext cx="3566160" cy="3364992"/>
          </a:xfrm>
          <a:prstGeom prst="roundRect">
            <a:avLst>
              <a:gd name="adj" fmla="val 3261"/>
            </a:avLst>
          </a:prstGeom>
          <a:solidFill>
            <a:srgbClr val="12384C"/>
          </a:solidFill>
          <a:ln w="12700">
            <a:solidFill>
              <a:srgbClr val="1238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87088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587088" y="3566160"/>
            <a:ext cx="310896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only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clinically validated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FDA/EMA approved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recommendations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patient data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prototype deployment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076895" y="2834640"/>
            <a:ext cx="3566160" cy="3364992"/>
          </a:xfrm>
          <a:prstGeom prst="roundRect">
            <a:avLst>
              <a:gd name="adj" fmla="val 3261"/>
            </a:avLst>
          </a:prstGeom>
          <a:solidFill>
            <a:srgbClr val="12384C"/>
          </a:solidFill>
          <a:ln w="12700">
            <a:solidFill>
              <a:srgbClr val="1238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51215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351215" y="3566160"/>
            <a:ext cx="310896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clinical data integrations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sophisticated trend detection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authentication and database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clinical / regulatory workflows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AI-assisted analysis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  ·  Hackathon proof-of-concept  ·  Synthetic data only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728655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1085</Words>
  <Application>Microsoft Office PowerPoint</Application>
  <PresentationFormat>Widescreen</PresentationFormat>
  <Paragraphs>215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TrialGuard — Clinical Trial Risk Monitor &amp; Protocol Deviation Detector</dc:title>
  <dc:subject>PptxGenJS Presentation</dc:subject>
  <dc:creator>TrialGuard team</dc:creator>
  <cp:lastModifiedBy>PURVA PATEL</cp:lastModifiedBy>
  <cp:revision>3</cp:revision>
  <dcterms:created xsi:type="dcterms:W3CDTF">2026-09-15T09:00:58Z</dcterms:created>
  <dcterms:modified xsi:type="dcterms:W3CDTF">2026-09-15T09:09:38Z</dcterms:modified>
</cp:coreProperties>
</file>